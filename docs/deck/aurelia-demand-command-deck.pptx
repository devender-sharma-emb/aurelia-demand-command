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ARCHITHON 2026  ·  RETAIL  ·  MARKETING &amp; DEMAND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Command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429000"/>
            <a:ext cx="411480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703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that senses demand and commits a campaign only when the supply chain can serve it.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multi-sector retail. Context: Aurelia Retail Group, 600 stores and e-commerce across 8 markets, 18-month transformation.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BURNING PLATFORM: DEMAND VOLATILITY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shifts in days. Campaigns commit without seeing stock.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Signals move fast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Value-seeking behavior changes by market, channel and category within days.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9202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Campaigns commit early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51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Spend, offers and creative are approved without live inventory or sourcing 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land late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6517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Stockouts, wasted spend and markdowns appear weeks after the decision was made.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predict value-seeking demand across 8 markets and channels, then act only on what the supply chain can deliver.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Aurelia Retail Group  ·  Marketing &amp; Demand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SIGNALS IN:  POS · web and app · search and social · weather and events · competitor prices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31720" cy="4023360"/>
          </a:xfrm>
          <a:prstGeom prst="roundRect">
            <a:avLst>
              <a:gd name="adj" fmla="val 4706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SIGNALS AND DATA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and e-commerce sales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app clickstream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social, weather, events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43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sourcing feed, read-only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1371600"/>
            <a:ext cx="3063240" cy="4023360"/>
          </a:xfrm>
          <a:prstGeom prst="roundRect">
            <a:avLst>
              <a:gd name="adj" fmla="val 3582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AGENTS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965960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0F1733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0208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Sensing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2514600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0F1733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256946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3063240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0F1733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311810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Planning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3611880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0F1733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3666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&amp; Localization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37560" y="4160520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0F1733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42153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&amp; Price Signal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37560" y="4709160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0F1733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476402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13716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Orchestrator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2057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shared goals: incremental margin, sell-through, service level, waste.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30632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campaign without stock to serve it.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416052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0F1733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4572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floor, budget caps, consent, approval above EUR 15k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1371600"/>
            <a:ext cx="2423160" cy="1188720"/>
          </a:xfrm>
          <a:prstGeom prst="roundRect">
            <a:avLst>
              <a:gd name="adj" fmla="val 9231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18320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Merchandising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0" y="18745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and assortment requests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89720" y="2743200"/>
            <a:ext cx="2423160" cy="1188720"/>
          </a:xfrm>
          <a:prstGeom prst="roundRect">
            <a:avLst>
              <a:gd name="adj" fmla="val 9231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1832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0" y="3246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requests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4114800"/>
            <a:ext cx="2423160" cy="1188720"/>
          </a:xfrm>
          <a:prstGeom prst="roundRect">
            <a:avLst>
              <a:gd name="adj" fmla="val 9231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418320" y="4251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and CX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0" y="4617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Demand-shaped service levels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Measurement results retrain the sensing and promo models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Aurelia Retail Group  ·  Marketing &amp; Demand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agents, one orchestrator, two hand-offs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0F1733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Sensing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signals into one curve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0515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0F1733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value-seeking shoppers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05156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0F1733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Planning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mix, budget, timing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0F1733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&amp; Localization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633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content per market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214884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0F1733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 &amp; Price Signal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633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depth above margin floor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148840"/>
            <a:ext cx="3566160" cy="914400"/>
          </a:xfrm>
          <a:prstGeom prst="roundRect">
            <a:avLst>
              <a:gd name="adj" fmla="val 12000"/>
            </a:avLst>
          </a:prstGeom>
          <a:solidFill>
            <a:srgbClr val="0F1733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633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Incrementality tests, feedback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Orchestrator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931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shared goals: incremental margin, sell-through, service level, waste. Rule: no campaign without stock to serve it.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486400" cy="777240"/>
          </a:xfrm>
          <a:prstGeom prst="roundRect">
            <a:avLst>
              <a:gd name="adj" fmla="val 11765"/>
            </a:avLst>
          </a:prstGeom>
          <a:ln w="25400">
            <a:solidFill>
              <a:srgbClr val="4F8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846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Merchandising: </a:t>
            </a:r>
            <a:pPr indent="0" marL="0">
              <a:buNone/>
            </a:pPr>
            <a:r>
              <a:rPr lang="en-US" sz="14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and assortment requests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172200" y="4709160"/>
            <a:ext cx="5486400" cy="777240"/>
          </a:xfrm>
          <a:prstGeom prst="roundRect">
            <a:avLst>
              <a:gd name="adj" fmla="val 11765"/>
            </a:avLst>
          </a:prstGeom>
          <a:ln w="25400">
            <a:solidFill>
              <a:srgbClr val="4F8C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46520" y="4846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Sourcing: </a:t>
            </a:r>
            <a:pPr indent="0" marL="0">
              <a:buNone/>
            </a:pPr>
            <a:r>
              <a:rPr lang="en-US" sz="14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 requests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Aurelia Retail Group  ·  Marketing &amp; Demand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· SYNTHETIC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demand spike in Market 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66544" cy="3200400"/>
          </a:xfrm>
          <a:prstGeom prst="roundRect">
            <a:avLst>
              <a:gd name="adj" fmla="val 5310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Sense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700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 cut lifts Home demand. +5,000 units projected.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98064" y="1691640"/>
            <a:ext cx="2066544" cy="3200400"/>
          </a:xfrm>
          <a:prstGeom prst="roundRect">
            <a:avLst>
              <a:gd name="adj" fmla="val 5310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19202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Segment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377440"/>
            <a:ext cx="1700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68% of the uplift is price-sensitive repeat buyers.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47488" y="1691640"/>
            <a:ext cx="2066544" cy="3200400"/>
          </a:xfrm>
          <a:prstGeom prst="roundRect">
            <a:avLst>
              <a:gd name="adj" fmla="val 5310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30368" y="19202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Check stock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377440"/>
            <a:ext cx="1700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covers 60% of the lift: 3,000 of 5,000 units.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96912" y="1691640"/>
            <a:ext cx="2066544" cy="3200400"/>
          </a:xfrm>
          <a:prstGeom prst="roundRect">
            <a:avLst>
              <a:gd name="adj" fmla="val 5310"/>
            </a:avLst>
          </a:prstGeom>
          <a:solidFill>
            <a:srgbClr val="16214A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79792" y="19202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Decide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79792" y="2377440"/>
            <a:ext cx="1700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scaled to EUR 24k of 40k. EUR 9.6k moves to a surplus category.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46336" y="1691640"/>
            <a:ext cx="2066544" cy="3200400"/>
          </a:xfrm>
          <a:prstGeom prst="roundRect">
            <a:avLst>
              <a:gd name="adj" fmla="val 5310"/>
            </a:avLst>
          </a:prstGeom>
          <a:solidFill>
            <a:srgbClr val="16214A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9216" y="192024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Govern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729216" y="2377440"/>
            <a:ext cx="17007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above EUR 15k needs human approval. 2,000 units requested from Sourcing.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orchestrator, EUR 16k of spend chases 2,000 units that cannot be delivered.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Aurelia Retail Group  ·  Marketing &amp; Demand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D4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62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IMPACT · BACKTEST ON SYNTHETIC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2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wasted spend, modest margin gain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37744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  <a:gridCol w="3566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demand spike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alone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orchestrator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chasing unservable demand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7,480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5,590 (-25%)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margin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199.9k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+EUR 1.2k to +2.2k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lost to stockouts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1,971 units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1,992 (no change)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Spikes detected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06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 of 480 (99%)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A8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519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6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held-out synthetic worlds, 480 spikes, 95% confidence intervals above zero. Margin range: conservative to assuming 1.8x return on reallocated spend. Gain sits in stock-short spikes (+EUR 2.7k to 4.3k); stock-sufficient spikes lose EUR 0.7k to 0.8k. Synthetic and assumption-driven, not a forecast.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2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Aurelia Retail Group  ·  Marketing &amp; Demand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62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CAPGEMINI ASSETS · TO CONFIRM WITH MENTOR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Capgemini accelerators plug in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468880"/>
        </p:xfrm>
        <a:graphic>
          <a:graphicData uri="http://schemas.openxmlformats.org/drawingml/2006/table">
            <a:tbl>
              <a:tblPr/>
              <a:tblGrid>
                <a:gridCol w="2194560"/>
                <a:gridCol w="5303520"/>
                <a:gridCol w="35661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Capgemini asset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demand, inventory and customer events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[Asset to confirm]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runtime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domain agents plus the orchestrator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[Asset to confirm]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 tiers, audit trail, consent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[Asset to confirm]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8E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in 2 markets, then scale to all 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A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[Asset to confirm]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A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97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tiers: auto-execute for low-risk changes, human approval above EUR 15k, human-led for brand-sensitive decisions.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Aurelia Retail Group  ·  Marketing &amp; Demand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18-MONTH ROADMAP · ONE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decision support to a closed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0F1733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013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0-6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31720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demand signal layer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Agent as decision support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pilot markets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0F1733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18013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7-12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331720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Campaign, Promo and Creative agents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with stock guardrail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Human-approved actions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0F1733"/>
          </a:solidFill>
          <a:ln w="12700">
            <a:solidFill>
              <a:srgbClr val="2A3A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18013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13-18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331720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markets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Auto-execute for low-risk tiers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with Merchandising and Sourcing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F17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Team interfaces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120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receives allocation requests. Sourcing receives replenishment requests. Logistics and Commerce receive demand-shaped service levels.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Aurelia Retail Group  ·  Marketing &amp; Demand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2026-09-27T23:13:16Z</dcterms:created>
  <dcterms:modified xsi:type="dcterms:W3CDTF">2026-09-27T23:13:16Z</dcterms:modified>
</cp:coreProperties>
</file>